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explores how structural factors — income inequality, housing costs, unemployment, and social marginalization — interact to drive food insecurity across Canada. The headline finding is already counterintuitive: 78% of food-insecure Canadians live above the poverty line. This challenges standard narratives and is the central analytical thread of the entire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statistics establish why this analysis matters. The DTES callout box grounds the quantitative work in direct lived experience — a differentiator that makes this project distinctive on both a job application and a PhD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research question is designed to challenge conventional wisdom. RQ1 tests whether income is protective. RQ2 isolates social policy as a structural buffer. RQ3 directly challenges the standard unemployment-hunger link. RQ4 synthesizes all indicators into a composite risk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datasets are from Statistics Canada — open licence, peer-reviewed data collection standards. The 2021 Census provides the structural snapshot; the CIS provides the food insecurity outcome variable over 7 years. Note that 'Canada' appears in the province dataset as a national benchmark row — retained deliberately for RQ2 comparisons, excluded from all correlation and vulnerability index calculations which use provinces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heatmap reveals the structural architecture of poverty in Canada before a single analysis chart is drawn. The most surprising finding: Gini index is essentially uncorrelated with food insecurity (r = -0.06). This challenges the assumption that inequality drives hunger at the provincial level — other structural factors appear to matter more within the range of Canadian provincial inequality.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RQ1 Answer: No — earning more does not systematically protect against food insecurity at the provincial level. Alberta earns the most ($83K median) but has 28.2% food insecurity. Quebec earns among the least ($63.2K) but has only 15.8% — lowest in Canada. BC earns $76K with 22.1% food insecurity, well below the regression line. The income-insecurity relationship is essentially flat (r=0.08, p=0.82). The Gini chart (RQ1B) shows inequality is similarly uncorrelated. This establishes the core paradox: structural factors beyond income explain provincial food insecurity differences.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RQ2 Answer: Quebec's advantage is structural, not accidental. Despite having the 3rd lowest median income ($63.2K), Quebec has 15.8% food insecurity vs 23.1% nationally. The bar chart shows the key differentiators: tenant shelter burden (25.2% vs 33.2% nationally) and unemployment (7.6% vs 10.3%) are substantially lower. Social programs — $10/day childcare, stronger rent controls, broader social assistance — buffer food insecurity. The COVID comparison is striking: Quebec's line barely moved 2019-2022 while all other provinces surged. This is strong evidence that social policy architecture, not income level, determines food security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RQ3 Answer: No — unemployment is no longer the primary driver of hunger in Canada. The scatter plot shows r = 0.42 (p = 0.23) — positive but statistically insignificant with only 10 provinces. The right panel tells the more powerful story: food insecurity climbed from 16% to 25.7% between 2018 and 2023 while the unemployment benchmark stayed near 10%. These two lines have completely decoupled. The 78% annotation is the key analytical finding: most hungry Canadians are employed and above the poverty line. Housing inflation, wage stagnation, and precarious employment — not joblessness — are driving the hunger surge.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RQ4 Answer: Ontario and BC rank highest on the composite vulnerability index despite having middle-range food insecurity — their structural exposure (housing burden, inequality, LIM-AT) is high even if outcomes are partially buffered. Quebec ranks lowest on both the index and food insecurity — consistent with RQ2 findings. The right panel shows that none of the five indicators are statistically significant predictors individually — this confirms that food insecurity is a multi-dimensional structural problem, not reducible to any single variable. Unemployment (r=0.42) and shelter burden (r=0.34) have the highest positive associations; LICO-AT is counterintuitively negative (r=-0.42).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city bubble chart confirms the Vancouver paradox at the city level: Vancouver has the largest bubble (highest shelter burden, 38.5%) and highest Gini among BC CMAs, yet food insecurity (15.9%) is lower than Toronto (20.2%) or Edmonton (20.7%). After controlling for income and race in the regression (Uppal 2023), Vancouver's predicted probability of food insecurity is 0.16 vs Toronto's 0.19 — the difference holds even accounting for demographics. The equity panel shows the racialized burden: Black Canadians (40.6%) and Indigenous peoples (36.8%) face nearly double the national rate of 23.1% — a direct connection to the DTES field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findings directly answer the four research questions and together construct a coherent argument: food insecurity in Canada is structural — driven by housing costs, social program coverage, and systemic racial inequity — not by individual income levels or employment status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explicitly bridges the analytical work to its two audiences. For a Canadian bank data analyst interview: emphasize vulnerability index scoring methodology and multi-dataset integration. For PhD committees at Ottawa Telfer, CWRU, SFU, or Arizona Eller: emphasize structural determinants framing and the causal logic of the Quebec natural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message: this is not just a data project. It is an argument that hunger in Canada is addressable — if policymakers look at the structural levers that Quebec has already demonstrated work. 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300" kern="0" dirty="0">
                <a:solidFill>
                  <a:srgbClr val="FFFFFF"/>
                </a:solidFill>
              </a:rPr>
              <a:t>FOOD INSECURITY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spc="200" kern="0" dirty="0">
                <a:solidFill>
                  <a:srgbClr val="F5A623"/>
                </a:solidFill>
              </a:rPr>
              <a:t>&amp; POVERTY IN CANADA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30632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EDF2"/>
                </a:solidFill>
              </a:rPr>
              <a:t>A Structural Analysis of Unemployment, Income Inequality,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EDF2"/>
                </a:solidFill>
              </a:rPr>
              <a:t>Housing Affordability, and Food Insecurity Across Canadian Provinces and Cities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069080"/>
            <a:ext cx="8229600" cy="0"/>
          </a:xfrm>
          <a:prstGeom prst="line">
            <a:avLst/>
          </a:prstGeom>
          <a:noFill/>
          <a:ln w="19050">
            <a:solidFill>
              <a:srgbClr val="1E4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2062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Edward Agyemang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MPS Data Analytics  |  Northeastern University, Vancouver  |  May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8920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Data: Statistics Canada 2021 Census  •  Canadian Income Survey 2018–2024  •  Uppal (2023)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235440" y="1005840"/>
            <a:ext cx="2560320" cy="1280160"/>
          </a:xfrm>
          <a:prstGeom prst="rect">
            <a:avLst/>
          </a:prstGeom>
          <a:solidFill>
            <a:srgbClr val="1A3049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0" y="1078992"/>
            <a:ext cx="2560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</a:rPr>
              <a:t>24%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9235440" y="1748333"/>
            <a:ext cx="25603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of Canadians food-insecure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(2024 — record high)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235440" y="2423160"/>
            <a:ext cx="2560320" cy="1280160"/>
          </a:xfrm>
          <a:prstGeom prst="rect">
            <a:avLst/>
          </a:prstGeom>
          <a:solidFill>
            <a:srgbClr val="1A3049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496312"/>
            <a:ext cx="2560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</a:rPr>
              <a:t>+43%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35440" y="3165653"/>
            <a:ext cx="25603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rise in food insecurity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since 2018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35440" y="3840480"/>
            <a:ext cx="2560320" cy="1280160"/>
          </a:xfrm>
          <a:prstGeom prst="rect">
            <a:avLst/>
          </a:prstGeom>
          <a:solidFill>
            <a:srgbClr val="1A3049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3913632"/>
            <a:ext cx="2560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</a:rPr>
              <a:t>78%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235440" y="4582973"/>
            <a:ext cx="256032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food-insecure households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are ABOVE the poverty line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The Scale of the Crisis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Between 2018 and 2024, food insecurity in Canada rose nearly 43% — faster than any other comparable nation. Yet hunger in Canada is not primarily a story of unemployment or poverty. It is a story of structural conditions: unaffordable housing, precarious employment, income inequality, and systemic marginalization.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210312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68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10M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Canadians food-insecure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(2024)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2423160"/>
            <a:ext cx="210312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468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2.5M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3154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Children in food-insecure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households (2024)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2423160"/>
            <a:ext cx="210312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468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52%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37760" y="3154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Female lone-parent families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food-insecure (2022)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23760" y="2423160"/>
            <a:ext cx="210312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2468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40.6%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223760" y="3154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Food insecurity 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among Black Canadians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509760" y="2423160"/>
            <a:ext cx="210312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2468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</a:rPr>
              <a:t>36.8%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509760" y="3154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Food insecurity 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among Indigenous peoples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069080"/>
            <a:ext cx="11430000" cy="1188720"/>
          </a:xfrm>
          <a:prstGeom prst="rect">
            <a:avLst/>
          </a:prstGeom>
          <a:solidFill>
            <a:srgbClr val="1A3049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Field Perspective: Vancouver's Downtown Eastside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49884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E8EDF2"/>
                </a:solidFill>
              </a:rPr>
              <a:t>As a Building Operator across 13 properties in Canada's most studied urban poverty zone (2023–2025), I witnessed daily how structural conditions — not individual choices — determine whether people can access food, housing, and dignity. This analysis puts data behind that lived reality.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RESEARCH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Four Research Questions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64008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RQ1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1280160"/>
            <a:ext cx="10698480" cy="1005840"/>
          </a:xfrm>
          <a:prstGeom prst="rect">
            <a:avLst/>
          </a:prstGeom>
          <a:solidFill>
            <a:srgbClr val="1A3049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35331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The Income-Insecurity Paradox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700784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Does higher median income protect against food insecurity, or do housing costs and inequality neutralize that advantage?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64008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78608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RQ2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2578608"/>
            <a:ext cx="10698480" cy="1005840"/>
          </a:xfrm>
          <a:prstGeom prst="rect">
            <a:avLst/>
          </a:prstGeom>
          <a:solidFill>
            <a:srgbClr val="1A3049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65176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The Quebec Exception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999232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What structural factors explain Quebec's persistent food security advantage — and did it hold through the COVID shock?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77056"/>
            <a:ext cx="64008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877056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RQ3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3877056"/>
            <a:ext cx="10698480" cy="1005840"/>
          </a:xfrm>
          <a:prstGeom prst="rect">
            <a:avLst/>
          </a:prstGeom>
          <a:solidFill>
            <a:srgbClr val="1A3049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950208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Unemployment vs Food Insecurity: A Broken Relationship?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4297680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Has unemployment lost its predictive power over hunger, given that 78% of food-insecure households are employed?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5175504"/>
            <a:ext cx="64008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5175504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RQ4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97280" y="5175504"/>
            <a:ext cx="10698480" cy="1005840"/>
          </a:xfrm>
          <a:prstGeom prst="rect">
            <a:avLst/>
          </a:prstGeom>
          <a:solidFill>
            <a:srgbClr val="1A3049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524865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Building a Provincial Vulnerability Index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5596128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Which structural combination of indicators best predicts provincial food insecurity risk?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DATA SOURCES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Three Statistics Canada Datasets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6576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36576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</a:rPr>
              <a:t>DATASET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Census Profile — Provinces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C0392B"/>
                </a:solidFill>
              </a:rPr>
              <a:t>98-401-X2021001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Income, unemployment, LIM-AT, Gini,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housing burden — 10 provinces + Canada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280160"/>
            <a:ext cx="36576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280160"/>
            <a:ext cx="36576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280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</a:rPr>
              <a:t>DATASET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1901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Census Profile — Cities (CMAs)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C0392B"/>
                </a:solidFill>
              </a:rPr>
              <a:t>98-401-X2021002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34840" y="2697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Same indicators across 41 Census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Metropolitan Areas (cities)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1280160"/>
            <a:ext cx="36576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D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280160"/>
            <a:ext cx="36576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280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</a:rPr>
              <a:t>DATASET 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66760" y="1901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Canadian Income Survey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66760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C0392B"/>
                </a:solidFill>
              </a:rPr>
              <a:t>Table 13-10-0835-01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66760" y="26974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Food insecurity rates 2018–2024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by province, severity and demographics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02336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Analytical Methods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434840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434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Exploratory Data Analysis (EDA)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4434840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4434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Pearson Correlation Analysis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4434840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77072" y="4434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7-Year Longitudinal Trend Analysis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937760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937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Min-Max Normalized Vulnerability Index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97680" y="4937760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4937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City-Level Structural Comparison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0" y="4937760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77072" y="4937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Demographic Equity Analysis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EXPLORATORY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Structural Indicator Relationships</a:t>
            </a:r>
            <a:endParaRPr lang="en-US" sz="3000" dirty="0"/>
          </a:p>
        </p:txBody>
      </p:sp>
      <p:pic>
        <p:nvPicPr>
          <p:cNvPr id="5" name="Image 0" descr="/home/claude/pptx_project/images/correlation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6858000" cy="5029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188720"/>
            <a:ext cx="4389120" cy="502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325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</a:rPr>
              <a:t>KEY CORRELATIONS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589520" y="1737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r = −0.85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732520" y="17373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Income ↔ LIM-AT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203911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Higher income provinces have far fewer people in low income — strong negative link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589520" y="26334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r = +0.90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32520" y="26334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Income ↔ Gini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89520" y="293522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Higher income provinces also have greater inequality — income and inequality co-move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589520" y="35295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r = +0.78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732520" y="35295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Gini ↔ Shelter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89520" y="383133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More unequal provinces also have heavier housing cost burdens on tenants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589520" y="44256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r = +0.34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732520" y="44256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Shelter ↔ Food Insec.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589520" y="472744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Housing burden has the strongest structural link to food insecurity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0" y="53218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r = +0.42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732520" y="53218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Unemployment ↔ Food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589520" y="56235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Unemployment correlates positively but is not statistically significant (p=0.23)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RQ1 — INCOME PARADOX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Does Earning More Mean Eating Better?</a:t>
            </a:r>
            <a:endParaRPr lang="en-US" sz="2800" dirty="0"/>
          </a:p>
        </p:txBody>
      </p:sp>
      <p:pic>
        <p:nvPicPr>
          <p:cNvPr id="5" name="Image 0" descr="/home/claude/pptx_project/images/rq1_income_insecurity_parado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1188720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94360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r = 0.08  (p = 0.82) — income is essentially uncorrelated with food insecurity at the provincial level.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RQ2 — QUEBEC EXCEPTION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2A"/>
                </a:solidFill>
              </a:rPr>
              <a:t>Why Does Canada's Most Distinct Province Have Its Least Hunger?</a:t>
            </a:r>
            <a:endParaRPr lang="en-US" sz="2400" dirty="0"/>
          </a:p>
        </p:txBody>
      </p:sp>
      <p:pic>
        <p:nvPicPr>
          <p:cNvPr id="5" name="Image 0" descr="/home/claude/pptx_project/images/rq2_quebec_excep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1188720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94360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Quebec was the ONLY province where food insecurity did not increase between 2019 and 2022 — a natural experiment in social policy resilience.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RQ3 — UNEMPLOYMENT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Is Unemployment Still the Primary Driver of Hunger?</a:t>
            </a:r>
            <a:endParaRPr lang="en-US" sz="2600" dirty="0"/>
          </a:p>
        </p:txBody>
      </p:sp>
      <p:pic>
        <p:nvPicPr>
          <p:cNvPr id="5" name="Image 0" descr="/home/claude/pptx_project/images/rq3_unemployment_food_insecur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1188720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94360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Food insecurity rose from 16% to 25.7% (2018–2023) while the Census unemployment benchmark remained at 10.3%. The relationship has decoupled.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RQ4 — VULNERABILITY INDEX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</a:rPr>
              <a:t>Which Provinces Face the Greatest Structural Hunger Risk?</a:t>
            </a:r>
            <a:endParaRPr lang="en-US" sz="2500" dirty="0"/>
          </a:p>
        </p:txBody>
      </p:sp>
      <p:pic>
        <p:nvPicPr>
          <p:cNvPr id="5" name="Image 0" descr="/home/claude/pptx_project/images/rq4_vulnerability_inde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1188720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94360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Index constructed from 5 min-max normalized indicators. Food insecurity is the outcome variable — excluded from the index itself.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CITY SPOTLIGHT &amp; EQUITY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Structural Marginalization and Hunger: Who Bears the Greatest Burden?</a:t>
            </a:r>
            <a:endParaRPr lang="en-US" sz="2200" dirty="0"/>
          </a:p>
        </p:txBody>
      </p:sp>
      <p:pic>
        <p:nvPicPr>
          <p:cNvPr id="5" name="Image 0" descr="/home/claude/pptx_project/images/city_spotlight_equ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1188720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94360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City data: Uppal (2023), Statistics Canada Catalogue 75-006-X.  •  (!) = Stats Can reliability flag C — use with caution.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KEY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the Data Reveals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577840" cy="2240280"/>
          </a:xfrm>
          <a:prstGeom prst="rect">
            <a:avLst/>
          </a:prstGeom>
          <a:solidFill>
            <a:srgbClr val="1A3049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502920" cy="2240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502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14356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Income Does Not Protect Against Hunger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828800"/>
            <a:ext cx="4754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DF2"/>
                </a:solidFill>
              </a:rPr>
              <a:t>At the provincial level, median household income is essentially uncorrelated with food insecurity (r = 0.08, p = 0.82). Alberta earns the most and still faces 28.2% food insecurity.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325880"/>
            <a:ext cx="5577840" cy="2240280"/>
          </a:xfrm>
          <a:prstGeom prst="rect">
            <a:avLst/>
          </a:prstGeom>
          <a:solidFill>
            <a:srgbClr val="1A3049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325880"/>
            <a:ext cx="502920" cy="2240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325880"/>
            <a:ext cx="502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85432" y="14356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Social Policy Architecture Is the Key Differentiator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85432" y="1828800"/>
            <a:ext cx="4754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DF2"/>
                </a:solidFill>
              </a:rPr>
              <a:t>Quebec's food security advantage persists across all income levels and survived the COVID shock intact. Tenant shelter burden 25% vs 33% nationally is the single biggest structural gap.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5577840" cy="2240280"/>
          </a:xfrm>
          <a:prstGeom prst="rect">
            <a:avLst/>
          </a:prstGeom>
          <a:solidFill>
            <a:srgbClr val="1A3049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794760"/>
            <a:ext cx="502920" cy="22402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94760"/>
            <a:ext cx="502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87552" y="39044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Unemployment Has Decoupled From Hunger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4297680"/>
            <a:ext cx="4754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DF2"/>
                </a:solidFill>
              </a:rPr>
              <a:t>Food insecurity rose 43% from 2018–2023 while unemployment remained stable. 78% of food-insecure households are employed and above the poverty line.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3794760"/>
            <a:ext cx="5577840" cy="2240280"/>
          </a:xfrm>
          <a:prstGeom prst="rect">
            <a:avLst/>
          </a:prstGeom>
          <a:solidFill>
            <a:srgbClr val="1A3049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3794760"/>
            <a:ext cx="502920" cy="2240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794760"/>
            <a:ext cx="502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85432" y="39044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Structural Marginalization Compounds Risk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85432" y="4297680"/>
            <a:ext cx="4754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8EDF2"/>
                </a:solidFill>
              </a:rPr>
              <a:t>Black Canadians (40.6%) and Indigenous peoples (36.8%) face nearly double the national food insecurity rate — inequities that persist above the poverty line and across income quintiles.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IMPLICATIONS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Why This Analysis Matters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394960" cy="43891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53949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 Financial Sector Roles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</a:rPr>
              <a:t>Composite vulnerability index methodology directly parallels credit risk scoring and financial inclusion assessment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</a:rPr>
              <a:t>Multi-dataset integration (census + survey panel) mirrors financial analyst workflows with large administrative datasets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</a:rPr>
              <a:t>Structural indicator analysis — income, housing burden, inequality — is foundational to community reinvestment and lending risk models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</a:rPr>
              <a:t>7-year longitudinal trend analysis demonstrates time-series thinking required for economic forecasting roles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5394960" cy="43891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325880"/>
            <a:ext cx="539496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325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For PhD Research Applications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187452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</a:rPr>
              <a:t>Directly operationalizes structural and social determinants of health framework — the theoretical basis for PhD work in health informatics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</a:rPr>
              <a:t>Demonstrates comfort with administrative health databases, multi-source data integration, and ecologically-structured analysis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</a:rPr>
              <a:t>Quebec natural experiment illustrates causal thinking and policy evaluation — foundational skills for causal ML research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</a:rPr>
              <a:t>Equity analysis of racialized food insecurity connects to research interests in housing instability and health inequity in marginalized populations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spc="300" kern="0" dirty="0">
                <a:solidFill>
                  <a:srgbClr val="FFFFFF"/>
                </a:solidFill>
              </a:rPr>
              <a:t>HUNGER IN CANADA IS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1143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spc="300" kern="0" dirty="0">
                <a:solidFill>
                  <a:srgbClr val="F5A623"/>
                </a:solidFill>
              </a:rPr>
              <a:t>A STRUCTURAL PROBLEM.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28803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8EDF2"/>
                </a:solidFill>
              </a:rPr>
              <a:t>It requires structural solutions — adequate housing, portable benefits, and targeted income supports for marginalized communities. Data can make that case. This project is one contribution to that argument.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023360"/>
            <a:ext cx="8229600" cy="0"/>
          </a:xfrm>
          <a:prstGeom prst="line">
            <a:avLst/>
          </a:prstGeom>
          <a:noFill/>
          <a:ln w="19050">
            <a:solidFill>
              <a:srgbClr val="1E4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Edward Agyemang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github.com/EdwardAgyemang   |   edward.agyemang@northeastern.edu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5074920"/>
            <a:ext cx="11430000" cy="1417320"/>
          </a:xfrm>
          <a:prstGeom prst="rect">
            <a:avLst/>
          </a:prstGeom>
          <a:solidFill>
            <a:srgbClr val="1A3049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166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</a:rPr>
              <a:t>REFERENCES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5468112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Statistics Canada. (2022). Census Profile, 2021 Census of Population [Tables 98-401-X2021001 &amp; 98-401-X2021002].</a:t>
            </a:r>
            <a:endParaRPr lang="en-US" sz="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Statistics Canada. (2025). Food insecurity by selected demographic characteristics [Table 13-10-0835-01]. https://doi.org/10.25318/1310083501-eng</a:t>
            </a:r>
            <a:endParaRPr lang="en-US" sz="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Uppal, S. (2023). Food insecurity among Canadian families. Statistics Canada, Cat. no. 75-006-X. https://www150.statcan.gc.ca/n1/pub/75-006-x/2023001/article/00013-eng.htm</a:t>
            </a:r>
            <a:endParaRPr lang="en-US" sz="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Food Banks Canada. (2025). HungerCount 2025. | Food Banks Canada. (2025). Poverty Vulnerability Map Research Notes.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Insecurity and Poverty in Canada</dc:title>
  <dc:subject>PptxGenJS Presentation</dc:subject>
  <dc:creator>Edward Agyemang</dc:creator>
  <cp:lastModifiedBy>Edward Agyemang</cp:lastModifiedBy>
  <cp:revision>1</cp:revision>
  <dcterms:created xsi:type="dcterms:W3CDTF">2026-05-03T23:35:03Z</dcterms:created>
  <dcterms:modified xsi:type="dcterms:W3CDTF">2026-05-03T23:35:03Z</dcterms:modified>
</cp:coreProperties>
</file>